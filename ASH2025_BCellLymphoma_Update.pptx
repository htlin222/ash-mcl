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0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ORR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GLPG5101</c:v>
                  </c:pt>
                  <c:pt idx="1">
                    <c:v>Brexu-cel (historical)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Median PFS (months)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PFS (months)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Acalabrutinib + BR</c:v>
                  </c:pt>
                  <c:pt idx="1">
                    <c:v>Placebo + BR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66.4</c:v>
                </c:pt>
                <c:pt idx="1">
                  <c:v>49.6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BOVen Efficacy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BOVen 2-Year Outcomes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ORR</c:v>
                  </c:pt>
                  <c:pt idx="1">
                    <c:v>CR</c:v>
                  </c:pt>
                  <c:pt idx="2">
                    <c:v>PFS</c:v>
                  </c:pt>
                  <c:pt idx="3">
                    <c:v>OS</c:v>
                  </c:pt>
                  <c:pt idx="4">
                    <c:v>uMRD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</c:v>
                </c:pt>
                <c:pt idx="1">
                  <c:v>88</c:v>
                </c:pt>
                <c:pt idx="2">
                  <c:v>72</c:v>
                </c:pt>
                <c:pt idx="3">
                  <c:v>76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MAVO Response Rates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R/R MCL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TN MCL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</c:v>
                </c:pt>
                <c:pt idx="1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Pirtobrutinib in cBTKi-Refractory MCL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57.8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Liso-cel in MZL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ITT (n=77)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84.4</c:v>
                </c:pt>
                <c:pt idx="1">
                  <c:v>55.8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Evaluable (n=66)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95.5</c:v>
                </c:pt>
                <c:pt idx="1">
                  <c:v>62.1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BGB-16673 BTK Degrader ORR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MZL ORR</c:v>
                  </c:pt>
                  <c:pt idx="1">
                    <c:v>CLL/SLL ORR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94.4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Evorpacept vs Historical R²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Evorpacept + R²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</c:v>
                  </c:pt>
                  <c:pt idx="1">
                    <c:v>ORR</c:v>
                  </c:pt>
                  <c:pt idx="2">
                    <c:v>1yr PFS</c:v>
                  </c:pt>
                  <c:pt idx="3">
                    <c:v>1yr 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100</c:v>
                </c:pt>
                <c:pt idx="2">
                  <c:v>91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R² Historical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</c:v>
                  </c:pt>
                  <c:pt idx="1">
                    <c:v>ORR</c:v>
                  </c:pt>
                  <c:pt idx="2">
                    <c:v>1yr PFS</c:v>
                  </c:pt>
                  <c:pt idx="3">
                    <c:v>1yr 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80</c:v>
                </c:pt>
                <c:pt idx="2">
                  <c:v>75</c:v>
                </c:pt>
                <c:pt idx="3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Pirtobrutinib + Venetoclax Response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bubble3D val="0"/>
            <c:spPr>
              <a:solidFill>
                <a:srgbClr val="2E86AB"/>
              </a:solidFill>
              <a:effectLst/>
            </c:spPr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CR/VGPR</c:v>
                </c:pt>
                <c:pt idx="1">
                  <c:v>PR</c:v>
                </c:pt>
                <c:pt idx="2">
                  <c:v>MR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</c:v>
                </c:pt>
                <c:pt idx="1">
                  <c:v>31</c:v>
                </c:pt>
                <c:pt idx="2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Loncastuximab in High-Risk WM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patients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CR/VGPR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TP53-altered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ORR</c:v>
                  </c:pt>
                  <c:pt idx="1">
                    <c:v>CR/VGPR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122" y="1425625"/>
            <a:ext cx="819775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 2025 B-Cell Lymphoma Updates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762400" y="2203400"/>
            <a:ext cx="56190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0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MCL, MZL, and Waldenstrom Macroglobulinemia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095179" y="2879675"/>
            <a:ext cx="30127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Clinical Trial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29359" y="3393877"/>
            <a:ext cx="3758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 Society of Hematology Annual Meeting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393" y="2033588"/>
            <a:ext cx="759706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Mantle Cell Lymphoma (MCL)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543498" y="2843213"/>
            <a:ext cx="60568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CAR-T, BTKi Combinations, and Targeted Therapies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GLPG5101: Next-Gen CAR-T with 7-Day Manufacturing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ATALANTA-1 Trial (NCT06561425) | N=24 MCL patients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Fresh CAR-T with decentralized manufacturing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fixed IV dose, 7-day vein-to-vein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(vs 85-91% brexu-cel historical)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96% (vs 59-82% brexu-cel historical)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negative: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90% in evaluable patients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persistence: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21 months post-infusion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follow-up: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9.1 months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GLPG5101: Safety Profile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ATALANTA-1 Trial (NCT06561425)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65175"/>
            <a:ext cx="0" cy="3787825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901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≥3 CRS: 0-4% (vs 8-15% brexu-cel)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neurotoxicity: 4% (vs 31-32% historical)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bridging chemotherapy required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AEs: hematologic (manageable)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 and PFS: 83% at 9 months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7263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7263" y="1501676"/>
            <a:ext cx="4122837" cy="8882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RMAT designation: August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Galapagos announced cell therapy wind-down: October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development uncertain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proof-of-concept established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Trial: Acalabrutinib + BR for Frontline MCL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 (NCT02972840) | N=598 patients | Median FU: 50 months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2431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Transplant-ineligible untreated MCL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Acalabrutinib 100mg BID + BR vs placebo + BR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mPFS: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66.4 vs 49.6 months (HR 0.73, p=0.016)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reduction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progression/death risk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Ki-67 ≥30%: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HR 0.69 (benefit in high proliferation)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conversion: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37.5% vs 20% negative conversion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Trial: Safety &amp; Regulatory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 (NCT02972840)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65175"/>
            <a:ext cx="0" cy="3787825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901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 mutant subgroup: HR 0.88 (modest benefit)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 reversion (neg→pos): 5.85% vs 15%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 91% vs 88%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rate: 66.6% vs 53.5%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Manageable toxicity profile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7263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7263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Traditional Approval:</a:t>
            </a:r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January 16,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transplant-ineligible untreated MCL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from accelerated approval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 approval: May 6,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Orbis review collaboration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BOVen: Chemo-Free Triplet for TP53-Mutant MCL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(NCT03824483) | N=25 TP53-mutant patients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TP53-MCL: historical mPFS 0.9y, mOS 1.8y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Zanubrutinib + Obinutuzumab + Venetoclax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96% | 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88%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2-year PFS: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72% (95% CI 56-92%)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2-year OS: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76%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uMRD (10⁻⁵):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95% at cycle 13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MRD-guided discontinuation after 24 cycles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BOVen: Safety &amp; Guideline Update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(NCT03824483)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65175"/>
            <a:ext cx="0" cy="3787825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901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501676"/>
            <a:ext cx="4122837" cy="13704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Grade 4 treatment-related AEs reported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Diarrhea: 64% (mostly low-grade)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infection: 56%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Infusion reaction: 24%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Neutropenia: 32%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Time-limited therapy possible with MRD guidance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7263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7263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NCCN Category 2A</a:t>
            </a:r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TP53-mutant MCL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cohort: additional 25 patients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in Blood January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shift for high-risk MCL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effective chemo-free option for TP53-MCL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MAVO: Acalabrutinib + Venetoclax + Obinutuzumab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I/II (NCT04855695) | R/R (n=18) and TN (n=21)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2431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R/R MCL: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83% ORR, 78% CR, 77% 18mo PFS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 MCL: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86% ORR, 81% CR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 aberrant (n=8):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88% ORR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MRD-negative CR: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86% in TN patients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 MRD-neg CR: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91%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MRD-guided treatment discontinuation feasible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Pirtobrutinib: Non-Covalent BTKi for cBTKi-Refractory MCL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BRUIN Study (NCT03740529) | N=90 prior cBTKi patients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2431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C481S mutation in 50-75% of progressors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Reversible binding away from C481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57.8% (95% CI 46.9-68.1%)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DOR: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21.6 months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against wild-type and C481S-mutant BTK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&gt;300-fold selectivity for BTK vs 98% of kinome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Pirtobrutinib: Safety &amp; Regulatory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BRUIN Study (NCT03740529)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65175"/>
            <a:ext cx="0" cy="3787825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901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501676"/>
            <a:ext cx="4122837" cy="8882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Atrial fibrillation/flutter: 1.8% (vs 10-15% ibrutinib)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Discontinuation for AE: 3% (much lower than cBTKi)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Favorable cardiovascular profile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Well-tolerated in heavily pretreated patients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7263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7263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Full Approval:</a:t>
            </a:r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December 3,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from accelerated approval (Dec 2023)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First-in-class non-covalent BTKi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 BRUIN MCL-321 ongoing (vs cBTKi)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WM: 71.3% MRR (off-label NCCN support)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724025"/>
            <a:ext cx="829066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Zone Lymphoma (MZL)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165745" y="3152775"/>
            <a:ext cx="4812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CAR-T Approval and Emerging Therapies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Liso-cel: First CAR-T Approved for MZL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TRANSCEND FL (NCT04245839) | N=77 (ITT) / 66 (evaluable)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MZL ~10% of NHL, no prior specific therapy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CD19 CAR-T, 1:1 CD4:CD8 composition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84.4% (ITT) / 95.5% (evaluable)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55.8% (ITT) / 62.1% (evaluable)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DOR: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88.6% maintained response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PFS: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85.7%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24-month OS: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90.4%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Liso-cel: Safety &amp; FDA Approval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TRANSCEND FL (NCT04245839)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165175"/>
            <a:ext cx="0" cy="3787825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3901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Profile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501676"/>
            <a:ext cx="4122837" cy="8882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Any-grade CRS: 76% (Grade 3: 4%, no Grade 4-5)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Any-grade neurotoxicity: 33% (Grade 3: 4%)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pharmacokinetics (1:1 CD4:CD8)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safety across all liso-cel indications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67263" y="1165175"/>
            <a:ext cx="42052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Status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7263" y="1501676"/>
            <a:ext cx="4122837" cy="11293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Approval:</a:t>
            </a:r>
            <a:pPr algn="l" indent="0" marL="0">
              <a:lnSpc>
                <a:spcPts val="13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December 4, 2025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CAR-T for MZL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cancer indication for Breyanzi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approved indications of any CD19 CAR-T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prior lines of systemic therapy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BGB-16673: BTK Degrader for BTKi-Resistant Disease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CaDAnCe-101 Trial (NCT05006716)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24316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CDAC recruits cereblon for BTK degradation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C481S and "kinase-dead" scaffold mutations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MZL 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67% in response-evaluable patients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CLL/SLL 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94.4% at 200mg dose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regardless of prior BTKi exposure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entire BTK protein (vs inhibition)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Evorpacept: CD47 Blockade + R² for Frontline iNHL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(ASH 2025) | N=24 (14 FL, 10 MZL)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Blocks CD47-SIRPα "don't eat me" signal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Evorpacept + Rituximab + Lenalidomide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rate: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92% (vs ~50% historical R² alone)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PFS: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91%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OS: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antibody-dependent cellular phagocytosis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724025"/>
            <a:ext cx="829066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Waldenstrom Macroglobulinemia (WM)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027451" y="3152775"/>
            <a:ext cx="5088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18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Fixed-Duration Therapy and High-Risk Strategies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Pirtobrutinib + Venetoclax: Fixed-Duration Therapy for WM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Dana-Farber Phase II | N=27 evaluable (MYD88-mutant)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WM requires indefinite BTKi therapy typically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 24-cycle oral combination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CR/VGPR: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56% (exceeds futility threshold)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87%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to VGPR: 1.9 months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arrhythmia events reported to date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675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52400"/>
            <a:ext cx="88089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Loncastuximab Tesirine: ADC for High-Risk WM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53901" y="498425"/>
            <a:ext cx="88089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 | N=14 heavily pretreated patients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3901" y="1165175"/>
            <a:ext cx="4135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901" y="1476226"/>
            <a:ext cx="4053929" cy="145881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CD19-targeting ADC, median 4 prior therapies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86% overall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CR/VGPR: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71%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TP53-altered patients: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response, 89% CR/VGPR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CXCR4-mutant: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despite BTKi resistance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6-dose regimen</a:t>
            </a:r>
            <a:endParaRPr lang="en-US" sz="1000" dirty="0"/>
          </a:p>
          <a:p>
            <a:pPr algn="l" marL="101600" indent="-1016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in high-risk molecular subtypes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906714" y="1652588"/>
          <a:ext cx="3575000" cy="28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905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Implications: 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128099" cy="214788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one-size-fits-all: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Molecular testing at diagnosis now determines optimal therapy selection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TP53-mutant MCL: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BOVen triplet achieves 72% 2-year PFS (vs &lt;2 years historical OS)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BTKi resistance: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Pirtobrutinib and BTK degraders provide rational sequencing options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CAR-T innovation: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7-day manufacturing (GLPG5101) may eliminate 15-20% dropout rates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MZL milestone: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Liso-cel is first disease-specific approved therapy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Fixed-duration WM:</a:t>
            </a:r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Pirtobrutinib-venetoclax may replace indefinite BTKi therapy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2E86A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90500"/>
            <a:ext cx="88089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8128099" cy="2147888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ATALANTA-1: ASH 2025 Abstract #662, Galapagos NV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Trial: NCT02972840, FDA approval January 16, 2025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BOVen: Blood 2025;145(5):497, NCT03824483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MAVO: Blood 2024;144(Suppl 1):4408, NCT04855695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BRUIN: JCO 2023, NCT03740529, FDA full approval December 2025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TRANSCEND FL MZL: NCT04245839, FDA approval December 4,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 2025 B-Cell Lymphoma Updates</dc:title>
  <dc:subject>MCL, MZL, WM Clinical Trial Updates</dc:subject>
  <dc:creator>ASH 2025 Summary</dc:creator>
  <cp:lastModifiedBy>ASH 2025 Summary</cp:lastModifiedBy>
  <cp:revision>1</cp:revision>
  <dcterms:created xsi:type="dcterms:W3CDTF">2025-12-18T14:41:22Z</dcterms:created>
  <dcterms:modified xsi:type="dcterms:W3CDTF">2025-12-18T14:41:22Z</dcterms:modified>
</cp:coreProperties>
</file>